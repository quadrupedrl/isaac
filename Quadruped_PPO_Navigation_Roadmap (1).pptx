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guIkFGwPmvKI0PK9VMNOLW3hOT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2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Reinforcement Learning-Based Navigation of a LiDAR-Equipped Quadruped in Unmapped Environments Using PPO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Prerequisites</a:t>
            </a:r>
            <a:endParaRPr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Quadruped Robot with 360° LiDAR (Range: ~12–20 meters)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3.x, PyTorch/TensorFlow, OpenAI Gym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Simulation: Isaac Gym / Mujoco / Webots / ROS-Gazebo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RL Libraries: Stable Baselines3 / CleanRL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GPU-enabled system for training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Gait Types in Quadrupeds</a:t>
            </a:r>
            <a:endParaRPr/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Walk – High stability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Trot – Diagonal limb movement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Pace – Lateral limb movement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Gallop – Fastest but unstable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Reinforcement Learning Algorithms</a:t>
            </a:r>
            <a:endParaRPr/>
          </a:p>
        </p:txBody>
      </p:sp>
      <p:sp>
        <p:nvSpPr>
          <p:cNvPr id="102" name="Google Shape;102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DDPG – Off-policy actor-critic for continuous control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TRPO – Trust-region based optimization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PPO – Clipped surrogate loss for stability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SAC – Soft Actor-Critic for efficient exploration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A3C – Asynchronous actor-critic framework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PPO?</a:t>
            </a:r>
            <a:endParaRPr/>
          </a:p>
        </p:txBody>
      </p:sp>
      <p:sp>
        <p:nvSpPr>
          <p:cNvPr id="108" name="Google Shape;108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Stability with clipped objective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Good for high-dimensional action spaces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Robust exploration vs. exploitation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Suitable for robotics and real-time control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Quadruped Initialization</a:t>
            </a:r>
            <a:endParaRPr/>
          </a:p>
        </p:txBody>
      </p:sp>
      <p:sp>
        <p:nvSpPr>
          <p:cNvPr id="114" name="Google Shape;114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Starts in home pose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LiDAR activated to perceive environment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 vector initialized from first scan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Policy Formation (Theory)</a:t>
            </a:r>
            <a:endParaRPr/>
          </a:p>
        </p:txBody>
      </p:sp>
      <p:sp>
        <p:nvSpPr>
          <p:cNvPr id="120" name="Google Shape;120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Observe state (LiDAR + proprioception)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policy network πθ to map to actions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 to maximize expected reward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Policy Formation (Math)</a:t>
            </a:r>
            <a:endParaRPr/>
          </a:p>
        </p:txBody>
      </p:sp>
      <p:sp>
        <p:nvSpPr>
          <p:cNvPr id="126" name="Google Shape;126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2766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πθ(a|s), J(θ) = E[Σ γ^t r_t]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Gradient ascent: ∇θ J(θ) ≈ E[∇θ log πθ(a_t|s_t) Â_t]</a:t>
            </a:r>
            <a:endParaRPr/>
          </a:p>
          <a:p>
            <a:pPr indent="-381317" lvl="0" marL="342900" rtl="0" algn="l">
              <a:spcBef>
                <a:spcPts val="640"/>
              </a:spcBef>
              <a:spcAft>
                <a:spcPts val="0"/>
              </a:spcAft>
              <a:buSzPct val="136842"/>
              <a:buChar char="•"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Policy Objective (J(θ))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: The goal is to maximize the expected cumulative reward by learning a policy πθ(a|s) that maps states to actions.</a:t>
            </a:r>
            <a:br>
              <a:rPr lang="en-US" sz="1900">
                <a:latin typeface="Arial"/>
                <a:ea typeface="Arial"/>
                <a:cs typeface="Arial"/>
                <a:sym typeface="Arial"/>
              </a:rPr>
            </a:b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81317" lvl="0" marL="342900" rtl="0" algn="l">
              <a:spcBef>
                <a:spcPts val="640"/>
              </a:spcBef>
              <a:spcAft>
                <a:spcPts val="0"/>
              </a:spcAft>
              <a:buSzPct val="136842"/>
              <a:buChar char="•"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Gradient Ascent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: The policy is updated using the gradient of the objective, which depends on how likely an action is under the policy and how advantageous that action was (Âₜ).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Action Selection (Theory)</a:t>
            </a:r>
            <a:endParaRPr/>
          </a:p>
        </p:txBody>
      </p:sp>
      <p:sp>
        <p:nvSpPr>
          <p:cNvPr id="132" name="Google Shape;132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Choose action from current policy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Execute action → new state + reward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 (s, a, r, s′)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Action Selection (Math)</a:t>
            </a:r>
            <a:endParaRPr/>
          </a:p>
        </p:txBody>
      </p:sp>
      <p:sp>
        <p:nvSpPr>
          <p:cNvPr id="138" name="Google Shape;138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a_t ~ πθ(a_t | s_t)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V(s_t) = E[Σ γ^l r_{t+l}]</a:t>
            </a:r>
            <a:endParaRPr/>
          </a:p>
          <a:p>
            <a:pPr indent="-387350" lvl="0" marL="342900" rtl="0" algn="l">
              <a:spcBef>
                <a:spcPts val="640"/>
              </a:spcBef>
              <a:spcAft>
                <a:spcPts val="0"/>
              </a:spcAft>
              <a:buSzPts val="2500"/>
              <a:buChar char="•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at​∼πθ​(at​∣st​)</a:t>
            </a:r>
            <a:br>
              <a:rPr b="1" lang="en-US" sz="1800"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latin typeface="Arial"/>
                <a:ea typeface="Arial"/>
                <a:cs typeface="Arial"/>
                <a:sym typeface="Arial"/>
              </a:rPr>
              <a:t> → The agent samples an action ata_tat​ from the policy πθ\pi_\thetaπθ​, which defines the probability of taking action ata_tat​ given the current state sts_tst​.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87350" lvl="0" marL="342900" rtl="0" algn="l">
              <a:spcBef>
                <a:spcPts val="640"/>
              </a:spcBef>
              <a:spcAft>
                <a:spcPts val="0"/>
              </a:spcAft>
              <a:buSzPts val="2500"/>
              <a:buChar char="•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V(st)=E[∑l=0∞γlrt+l]V(s_t) = \mathbb{E}[\sum_{l=0}^{\infty} \gamma^l r_{t+l}]V(st​)=E[∑l=0∞​γlrt+l​]</a:t>
            </a:r>
            <a:br>
              <a:rPr b="1" lang="en-US" sz="1800"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latin typeface="Arial"/>
                <a:ea typeface="Arial"/>
                <a:cs typeface="Arial"/>
                <a:sym typeface="Arial"/>
              </a:rPr>
              <a:t> → The value function estimates the expected total future reward starting from state sts_tst​, discounted over time using factor γ\gammaγ.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PPO Update Cycle (Theory)</a:t>
            </a:r>
            <a:endParaRPr/>
          </a:p>
        </p:txBody>
      </p:sp>
      <p:sp>
        <p:nvSpPr>
          <p:cNvPr id="144" name="Google Shape;144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 trajectory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Estimate advantage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with clipped surrogate loss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 until convergence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PPO Update Cycle (Math)</a:t>
            </a:r>
            <a:endParaRPr/>
          </a:p>
        </p:txBody>
      </p:sp>
      <p:sp>
        <p:nvSpPr>
          <p:cNvPr id="150" name="Google Shape;150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L_CLIP(θ) = E[min(r_t Â_t, clip(r_t, 1-ε, 1+ε) Â_t)]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r_t = πθ(a_t|s_t) / π_old(a_t|s_t)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rtl="0" algn="l">
              <a:spcBef>
                <a:spcPts val="640"/>
              </a:spcBef>
              <a:spcAft>
                <a:spcPts val="0"/>
              </a:spcAft>
              <a:buSzPts val="2300"/>
              <a:buChar char="•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Clipped Surrogate Loss LCLIP(θ)L_{CLIP}(\theta)LCLIP​(θ)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prevents large policy updates by comparing the actual policy ratio rtr_trt​ with a clipped version—ensuring stability in learning.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74650" lvl="0" marL="342900" rtl="0" algn="l">
              <a:spcBef>
                <a:spcPts val="640"/>
              </a:spcBef>
              <a:spcAft>
                <a:spcPts val="0"/>
              </a:spcAft>
              <a:buSzPts val="2300"/>
              <a:buChar char="•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Probability Ratio rtr_trt​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measures how much the new policy πθ\pi_\thetaπθ​ deviates from the old policy πold\pi_{old}πold​; if it's too different, the update is limited using clipping.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Advantages of PPO</a:t>
            </a:r>
            <a:endParaRPr/>
          </a:p>
        </p:txBody>
      </p:sp>
      <p:sp>
        <p:nvSpPr>
          <p:cNvPr id="156" name="Google Shape;156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Sample-efficient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Handles continuous space well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Encourages smoother control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Adaptable to real-world noise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Advantages of Quadrupeds</a:t>
            </a:r>
            <a:endParaRPr/>
          </a:p>
        </p:txBody>
      </p:sp>
      <p:sp>
        <p:nvSpPr>
          <p:cNvPr id="162" name="Google Shape;162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Greater stability on uneven terrain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Better maneuverability in confined areas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Redundant limbs improve fault tolerance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Bio-inspired design suits natural terrain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/>
          </a:p>
        </p:txBody>
      </p:sp>
      <p:sp>
        <p:nvSpPr>
          <p:cNvPr id="168" name="Google Shape;168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Transfer learning from simulation to real-world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Multi-agent coordination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with vision sensors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Zero-shot navigation in complex terrain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Acronyms</a:t>
            </a:r>
            <a:endParaRPr/>
          </a:p>
        </p:txBody>
      </p:sp>
      <p:sp>
        <p:nvSpPr>
          <p:cNvPr id="174" name="Google Shape;174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RL – Reinforcement Learning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PPO – Proximal Policy Optimization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LiDAR – Light Detection and Ranging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DDPG, TRPO, SAC, A3C, GPU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Symbols</a:t>
            </a:r>
            <a:endParaRPr/>
          </a:p>
        </p:txBody>
      </p:sp>
      <p:sp>
        <p:nvSpPr>
          <p:cNvPr id="180" name="Google Shape;180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πθ – Policy with parameters θ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sₜ – State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aₜ – Action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rₜ – Reward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γ – Discount factor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Aₜ – Advantage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V(s) – Value function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Equations</a:t>
            </a:r>
            <a:endParaRPr/>
          </a:p>
        </p:txBody>
      </p:sp>
      <p:sp>
        <p:nvSpPr>
          <p:cNvPr id="186" name="Google Shape;186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J(θ) = E[Σ γ^t r_t]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∇θ J(θ) = E[∇θ log πθ(a_t|s_t) Â_t]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L_CLIP = E[min(r_t Â_t, clip(r_t, 1-ε, 1+ε) Â_t)]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Pseudocode: PPO Policy Update</a:t>
            </a:r>
            <a:endParaRPr/>
          </a:p>
        </p:txBody>
      </p:sp>
      <p:sp>
        <p:nvSpPr>
          <p:cNvPr id="192" name="Google Shape;192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17018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Initialize policy πθ and old policy πθ_old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for each iteration do: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    Collect trajectories by running πθ_old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    Estimate rewards, advantages Â_t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    Compute ratio r_t = πθ / πθ_old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    Optimize using: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L_CLIP = min(r_t Â_t, clip(r_t, 1-ε, 1+ε) Â_t)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    Update πθ_old ← πθ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Pseudocode: Quadruped Navigation Loop</a:t>
            </a:r>
            <a:endParaRPr/>
          </a:p>
        </p:txBody>
      </p:sp>
      <p:sp>
        <p:nvSpPr>
          <p:cNvPr id="198" name="Google Shape;198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15494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Initialize environment and LiDAR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while not done: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    Observe state s_t (LiDAR + joint states)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    Select action a_t ~ πθ(a_t | s_t)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    Execute action and get reward r_t, next state s_t+1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    Store transition (s_t, a_t, r_t, s_t+1)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    Periodically update policy using PPO update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